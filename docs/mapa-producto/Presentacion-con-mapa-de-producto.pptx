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70482395b924538" Type="http://schemas.openxmlformats.org/officeDocument/2006/relationships/extended-properties" Target="docProps/app.xml"/><Relationship Id="R6b8b31b3c1744542" Type="http://schemas.openxmlformats.org/officeDocument/2006/relationships/officeDocument" Target="ppt/presentation.xml"/><Relationship Id="Re13df6865dc44b3a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8059919a84956"/>
  </p:sldMasterIdLst>
  <p:notesMasterIdLst>
    <p:notesMasterId xmlns:r="http://schemas.openxmlformats.org/officeDocument/2006/relationships" r:id="Rd22fd459a5b14588"/>
  </p:notesMasterIdLst>
  <p:sldIdLst>
    <p:sldId xmlns:r="http://schemas.openxmlformats.org/officeDocument/2006/relationships" id="256" r:id="R0dd006e5341f4b9f"/>
    <p:sldId xmlns:r="http://schemas.openxmlformats.org/officeDocument/2006/relationships" id="257" r:id="Rae3e885b7911423f"/>
    <p:sldId xmlns:r="http://schemas.openxmlformats.org/officeDocument/2006/relationships" id="258" r:id="Rcff4a218cd994c0b"/>
    <p:sldId xmlns:r="http://schemas.openxmlformats.org/officeDocument/2006/relationships" id="259" r:id="R7d9bd398fe354950"/>
    <p:sldId xmlns:r="http://schemas.openxmlformats.org/officeDocument/2006/relationships" id="260" r:id="R1e80f66da9cb4c31"/>
    <p:sldId xmlns:r="http://schemas.openxmlformats.org/officeDocument/2006/relationships" id="261" r:id="R19e08ec1f6004caa"/>
    <p:sldId xmlns:r="http://schemas.openxmlformats.org/officeDocument/2006/relationships" id="262" r:id="Rf4a1b12c1d6b4c41"/>
    <p:sldId xmlns:r="http://schemas.openxmlformats.org/officeDocument/2006/relationships" id="263" r:id="R4354d819647d41ee"/>
    <p:sldId xmlns:ns0="http://schemas.openxmlformats.org/officeDocument/2006/relationships" id="264" ns0:id="rId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b8059919a84956" Type="http://schemas.openxmlformats.org/officeDocument/2006/relationships/slideMaster" Target="slideMasters/slideMaster1.xml"/><Relationship Id="R0dd006e5341f4b9f" Type="http://schemas.openxmlformats.org/officeDocument/2006/relationships/slide" Target="slides/slide1.xml"/><Relationship Id="R19e08ec1f6004caa" Type="http://schemas.openxmlformats.org/officeDocument/2006/relationships/slide" Target="slides/slide6.xml"/><Relationship Id="R1e49ce5da04d458e" Type="http://schemas.openxmlformats.org/officeDocument/2006/relationships/tableStyles" Target="tableStyles.xml"/><Relationship Id="R1e80f66da9cb4c31" Type="http://schemas.openxmlformats.org/officeDocument/2006/relationships/slide" Target="slides/slide5.xml"/><Relationship Id="R4354d819647d41ee" Type="http://schemas.openxmlformats.org/officeDocument/2006/relationships/slide" Target="slides/slide8.xml"/><Relationship Id="R7d9bd398fe354950" Type="http://schemas.openxmlformats.org/officeDocument/2006/relationships/slide" Target="slides/slide4.xml"/><Relationship Id="R99d5d76d480a4bca" Type="http://schemas.openxmlformats.org/officeDocument/2006/relationships/presProps" Target="presProps.xml"/><Relationship Id="Rae3e885b7911423f" Type="http://schemas.openxmlformats.org/officeDocument/2006/relationships/slide" Target="slides/slide2.xml"/><Relationship Id="Rcff4a218cd994c0b" Type="http://schemas.openxmlformats.org/officeDocument/2006/relationships/slide" Target="slides/slide3.xml"/><Relationship Id="Rd1c959ca1e93425e" Type="http://schemas.openxmlformats.org/officeDocument/2006/relationships/theme" Target="theme/theme1.xml"/><Relationship Id="Rd22fd459a5b14588" Type="http://schemas.openxmlformats.org/officeDocument/2006/relationships/notesMaster" Target="notesMasters/notesMaster1.xml"/><Relationship Id="Rf4a1b12c1d6b4c41" Type="http://schemas.openxmlformats.org/officeDocument/2006/relationships/slide" Target="slides/slide7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8ab0501ecb7e4ef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957cb626c8245c3" Type="http://schemas.openxmlformats.org/officeDocument/2006/relationships/slide" Target="../slides/slide1.xml"/><Relationship Id="Rdaf08c5683e4497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3e8d4e8daeb447f" Type="http://schemas.openxmlformats.org/officeDocument/2006/relationships/notesMaster" Target="../notesMasters/notesMaster1.xml"/><Relationship Id="Rb211169774f5470f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cf39749bbffc47ab" Type="http://schemas.openxmlformats.org/officeDocument/2006/relationships/notesMaster" Target="../notesMasters/notesMaster1.xml"/><Relationship Id="Reb1081d3797447ac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ca1d2eed79c4082" Type="http://schemas.openxmlformats.org/officeDocument/2006/relationships/slide" Target="../slides/slide4.xml"/><Relationship Id="R9cc61c92408d46b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e0c43ad495ba4fb7" Type="http://schemas.openxmlformats.org/officeDocument/2006/relationships/slide" Target="../slides/slide5.xml"/><Relationship Id="Rf9e999749c3543de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bf31b84e8b443ba" Type="http://schemas.openxmlformats.org/officeDocument/2006/relationships/notesMaster" Target="../notesMasters/notesMaster1.xml"/><Relationship Id="Ra96681ea98884cc4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97140dcf0c547ad" Type="http://schemas.openxmlformats.org/officeDocument/2006/relationships/slide" Target="../slides/slide7.xml"/><Relationship Id="Rc11747ea48dd49ff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b045b37dd36e43da" Type="http://schemas.openxmlformats.org/officeDocument/2006/relationships/slide" Target="../slides/slide8.xml"/><Relationship Id="Rbd25cdb8635340e9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0:00-0:20. Joel abre con el problema del conductor y presenta el nombre. Foto del sitio: Martin Katler / Unsplash, citada en el pie de la web.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0:20-0:55. Joel. Cifras del INE: https://www.ine.gob.cl/sala-de-prensa/prensa/general/noticia/2025/08/14/permisos-de-circulaci%C3%B3n-crecieron-un-2-9-en-2024 . CONASET recomienda mantenimiento preventivo: https://www.conaset.cl/area-vehiculos/elementos-de-seguridad/ . No afirmar que las cifras miden personas con problemas de mantención.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0:55-1:25. Joaquín. Mostrar la navegación real. El mapa completo del producto se adjunta como anexo del informe. Captura de la web propia: https://garage-premium-moderno.onrender.com/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1:25-2:05. Joaquín. Mostrar el prototipo en vivo si hay conexión. El catálogo es parcial y sus rangos históricos son referenciales, como indica la propia web. Captura propia del catálogo.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2:05-2:42. Joaquín. Captura de Mi garage con Premium activo. La captura muestra una ficha de ejemplo guardada en la cuenta del presentador. No se deben compartir contraseñas.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2:42-3:24. Joel. Captura real de un reporte generado para Bajaj Pulsar RS200 con 10.000 km. Gemini se ejecuta en el servidor; puede fallar o tardar si el servicio externo no responde. El reporte no se guarda en Supabase.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3:24-4:00. Joaquín. Explicar Free y Premium sin ofrecer cobros en vivo. Mercado Pago está pendiente. Hablemos guarda mensajes asociados al usuario en public.feedback y no envía correo automático. Capturas propias.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4:00-5:00. Joel cierra. Recorrido técnico: navegador envía la solicitud al servidor Express; se valida el token y el plan; Supabase conserva los vehículos por usuario; Gemini genera orientación para Premium. El contenido del catálogo y la web están publicados en Render. Alternativa para preguntas: SPA permite navegación rápida; el costo es gestionar estado en JavaScript.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a7077d2a8384e6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7ddb84194b3149af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948dcfa0de34b5b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1b3431f189b0454e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18867823ed6f496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408125d78e5f46a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08C056-48BD-4C44-ADB9-70C90A477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2A2DC5-19ED-4666-8886-33DCC6A2F8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A574B7-59E6-4351-9650-594B34360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A47BD1-22A3-4AF3-8FC3-6D15A3B8A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8A90BA-14F3-4083-89C5-661C45332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DE8DCD-A146-4B5E-A642-40BB60E4C4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9C7F41-8903-42E1-A86F-3AF4F970BB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573D14-2490-483C-9A65-0454AD4736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E6E71C-4CB2-49DF-A356-0BB0F95EFA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E35731-E653-42CA-A013-30D87555ED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45d28d074a4931" Type="http://schemas.openxmlformats.org/officeDocument/2006/relationships/slideLayout" Target="../slideLayouts/slideLayout5.xml"/><Relationship Id="R465654c80d5948a6" Type="http://schemas.openxmlformats.org/officeDocument/2006/relationships/slideLayout" Target="../slideLayouts/slideLayout3.xml"/><Relationship Id="R61fde6e9ba5e4855" Type="http://schemas.openxmlformats.org/officeDocument/2006/relationships/slideLayout" Target="../slideLayouts/slideLayout4.xml"/><Relationship Id="R9f21bbfb65fd4c80" Type="http://schemas.openxmlformats.org/officeDocument/2006/relationships/slideLayout" Target="../slideLayouts/slideLayout1.xml"/><Relationship Id="Radb93a7a283f4125" Type="http://schemas.openxmlformats.org/officeDocument/2006/relationships/slideLayout" Target="../slideLayouts/slideLayout6.xml"/><Relationship Id="Rb712408668d04090" Type="http://schemas.openxmlformats.org/officeDocument/2006/relationships/slideLayout" Target="../slideLayouts/slideLayout2.xml"/><Relationship Id="Re9bd846e191b41a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21bbfb65fd4c80"/>
    <p:sldLayoutId xmlns:r="http://schemas.openxmlformats.org/officeDocument/2006/relationships" id="2147483650" r:id="Rb712408668d04090"/>
    <p:sldLayoutId xmlns:r="http://schemas.openxmlformats.org/officeDocument/2006/relationships" id="2147483651" r:id="R465654c80d5948a6"/>
    <p:sldLayoutId xmlns:r="http://schemas.openxmlformats.org/officeDocument/2006/relationships" id="2147483652" r:id="R61fde6e9ba5e4855"/>
    <p:sldLayoutId xmlns:r="http://schemas.openxmlformats.org/officeDocument/2006/relationships" id="2147483653" r:id="R0345d28d074a4931"/>
    <p:sldLayoutId xmlns:r="http://schemas.openxmlformats.org/officeDocument/2006/relationships" id="2147483654" r:id="Radb93a7a283f41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b78dc962fd2459f" Type="http://schemas.openxmlformats.org/officeDocument/2006/relationships/slideLayout" Target="../slideLayouts/slideLayout6.xml"/><Relationship Id="R4b741c8f39834b6e" Type="http://schemas.openxmlformats.org/officeDocument/2006/relationships/notesSlide" Target="../notesSlides/notesSlide1.xml"/><Relationship Id="R90be2868454d4aa2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81fdab27ee5c45a7" Type="http://schemas.openxmlformats.org/officeDocument/2006/relationships/slideLayout" Target="../slideLayouts/slideLayout6.xml"/><Relationship Id="Rd61161f1372546e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c6d21cb85c8e4fc3" Type="http://schemas.openxmlformats.org/officeDocument/2006/relationships/image" Target="../media/image2.jpeg"/><Relationship Id="Rddc5b3a108ee49bd" Type="http://schemas.openxmlformats.org/officeDocument/2006/relationships/notesSlide" Target="../notesSlides/notesSlide3.xml"/><Relationship Id="Ree2c02cce8eb4976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0d40c0c7ecda4f58" Type="http://schemas.openxmlformats.org/officeDocument/2006/relationships/slideLayout" Target="../slideLayouts/slideLayout6.xml"/><Relationship Id="R87b37552f9ae4f74" Type="http://schemas.openxmlformats.org/officeDocument/2006/relationships/image" Target="../media/image3.jpeg"/><Relationship Id="Rf20f9e1d2c7a43c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2e168d992284c77" Type="http://schemas.openxmlformats.org/officeDocument/2006/relationships/notesSlide" Target="../notesSlides/notesSlide5.xml"/><Relationship Id="R34cfcd11e41f4e4c" Type="http://schemas.openxmlformats.org/officeDocument/2006/relationships/slideLayout" Target="../slideLayouts/slideLayout6.xml"/><Relationship Id="R435f423abff04da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02b9dfc3dff24072" Type="http://schemas.openxmlformats.org/officeDocument/2006/relationships/image" Target="../media/image5.jpeg"/><Relationship Id="R2ca85b40363f4dd6" Type="http://schemas.openxmlformats.org/officeDocument/2006/relationships/slideLayout" Target="../slideLayouts/slideLayout6.xml"/><Relationship Id="R630e1eb46469424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b5468ba260d4cb7" Type="http://schemas.openxmlformats.org/officeDocument/2006/relationships/image" Target="../media/image6.jpeg"/><Relationship Id="R2289a7b5025741b2" Type="http://schemas.openxmlformats.org/officeDocument/2006/relationships/notesSlide" Target="../notesSlides/notesSlide7.xml"/><Relationship Id="R5745779376654814" Type="http://schemas.openxmlformats.org/officeDocument/2006/relationships/slideLayout" Target="../slideLayouts/slideLayout6.xml"/><Relationship Id="R8fd26b9cc2b44700" Type="http://schemas.openxmlformats.org/officeDocument/2006/relationships/image" Target="../media/image7.jpeg"/></Relationships>
</file>

<file path=ppt/slides/_rels/slide8.xml.rels><?xml version='1.0' encoding='UTF-8' standalone='yes'?>
<Relationships xmlns="http://schemas.openxmlformats.org/package/2006/relationships"><Relationship Id="R24d803dc9daf41a2" Type="http://schemas.openxmlformats.org/officeDocument/2006/relationships/slideLayout" Target="../slideLayouts/slideLayout6.xml"/><Relationship Id="R737d6049ebab4be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2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e2868454d4aa2"/>
          <a:srcRect xmlns:a="http://schemas.openxmlformats.org/drawingml/2006/main" l="8000" t="4000" r="0" b="10000"/>
          <a:stretch xmlns:a="http://schemas.openxmlformats.org/drawingml/2006/main"/>
        </p:blipFill>
        <p:spPr>
          <a:xfrm xmlns:a="http://schemas.openxmlformats.org/drawingml/2006/main">
            <a:off x="5886450" y="0"/>
            <a:ext cx="6305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99A28-59FD-41F6-8014-B1186A71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048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GARAGE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PREMIUM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014A1-DB35-4774-9B87-4CAFCC51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4714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BE5EF"/>
                </a:solidFill>
                <a:latin typeface="Arial"/>
                <a:ea typeface="Arial"/>
                <a:cs typeface="Arial"/>
              </a:rPr>
              <a:t>Tu vehículo, tus datos y una guía inicial de mantención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766C8-557A-4F47-8248-92481496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DBE5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BE5EF"/>
                </a:solidFill>
                <a:latin typeface="Arial"/>
                <a:ea typeface="Arial"/>
                <a:cs typeface="Arial"/>
              </a:rPr>
              <a:t>Joel Trujillo  ·  Joaquín Guajardo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D9275-9C5B-498F-ADAE-276136E5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D0E1"/>
                </a:solidFill>
                <a:latin typeface="Arial"/>
                <a:ea typeface="Arial"/>
                <a:cs typeface="Arial"/>
              </a:rPr>
              <a:t>GARAGE PREMIUM MODERNO   /   HITO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A1B6C-629A-4F80-8FB4-8C47FD20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D0E1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390217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D56EB-6475-4EF1-8954-B40A446C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Un problema cotidiano, a escala Chile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2F7EF-C7A2-42BA-B442-12D7F21D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23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4.346.034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6308D-8366-42AA-BE7A-90D9640C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587"/>
                </a:solidFill>
                <a:latin typeface="Arial"/>
                <a:ea typeface="Arial"/>
                <a:cs typeface="Arial"/>
              </a:rPr>
              <a:t>permisos para automóviles, station wagon y todo terreno en 2024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A2FD5-F13E-4C7C-8A96-86A0631A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1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268.012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61ABD-F26B-4DD0-A2E5-6545467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09875"/>
            <a:ext cx="4619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587"/>
                </a:solidFill>
                <a:latin typeface="Arial"/>
                <a:ea typeface="Arial"/>
                <a:cs typeface="Arial"/>
              </a:rPr>
              <a:t>permisos para motocicletas y similares en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10CB4-A522-4A9F-930F-8FC64CC2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1029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F7E0F-1FA5-4939-8E49-AFD28321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La información suele estar dispersa.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26D30-CEFD-42D4-B28A-AE417BCD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587"/>
                </a:solidFill>
                <a:latin typeface="Arial"/>
                <a:ea typeface="Arial"/>
                <a:cs typeface="Arial"/>
              </a:rPr>
              <a:t>Fuente: INE, Permisos de circulación 2024. Las cifras dimensionan el universo de vehículos, no prueban por sí solas el problema de organización.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67A74-78EE-43AE-B6B7-73043F39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GARAGE PREMIUM MODERNO   /   HITO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C9728-EADD-435C-84F2-D987ADA8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775756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D0CDF-3D8E-4B27-8677-B793FA97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El producto y su recorrido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AF31B-3595-4513-9275-4BBDB5EF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84"/>
          </a:bodyPr>
          <a:lstStyle xmlns:a="http://schemas.openxmlformats.org/drawingml/2006/main">
            <a:lvl1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Para quien conduce un auto o una moto en Chile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BC13B-91F8-4FE7-AFCB-0A6AA289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4429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93"/>
          </a:bodyPr>
          <a:lstStyle xmlns:a="http://schemas.openxmlformats.org/drawingml/2006/main">
            <a:lvl1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Una ficha de su vehículo y orientación inicial antes de organizar la revisión.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F464C-5DE7-4338-9733-A49418F0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52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296AC"/>
                </a:solidFill>
                <a:latin typeface="Arial"/>
                <a:ea typeface="Arial"/>
                <a:cs typeface="Arial"/>
              </a:rPr>
              <a:t>Inicio  /  Catálogo  /  Mi garage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E2FCF-2FCC-46EC-8E5B-61D73FC7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296AC"/>
                </a:solidFill>
                <a:latin typeface="Arial"/>
                <a:ea typeface="Arial"/>
                <a:cs typeface="Arial"/>
              </a:rPr>
              <a:t>IA  /  Planes  /  Hablemos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21cb85c8e4fc3"/>
          <a:srcRect xmlns:a="http://schemas.openxmlformats.org/drawingml/2006/main" l="0" t="8000" r="0" b="4000"/>
          <a:stretch xmlns:a="http://schemas.openxmlformats.org/drawingml/2006/main"/>
        </p:blipFill>
        <p:spPr>
          <a:xfrm xmlns:a="http://schemas.openxmlformats.org/drawingml/2006/main">
            <a:off x="5448300" y="1381125"/>
            <a:ext cx="61722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B9CAA-52F8-40DC-85BD-7CF53D0F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15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587"/>
                </a:solidFill>
                <a:latin typeface="Arial"/>
                <a:ea typeface="Arial"/>
                <a:cs typeface="Arial"/>
              </a:rPr>
              <a:t>Página de inicio del prototipo público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FD04E-493D-493B-88FE-08DE15B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GARAGE PREMIUM MODERNO   /   HITO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56932-DD12-4DB9-8805-06DF36AE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5125262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DD5CB-C689-497C-BD18-5F5BDED4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El catálogo ayuda a elegir el modelo correcto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62AFC-F4EA-455A-8E64-278DCC43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Autos y motos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7951F-DAB0-485E-98E0-20720E71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4191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La marca filtra los modelos. El modelo determina los años disponibles.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0B2DC-E5CB-498E-B682-6602A2D4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4191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El kilometraje admite hasta 999.999 km.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74975-DA56-41D9-AF21-CAED29FE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Ejemplo: Bajaj Pulsar RS200 · 2020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37552f9ae4f74"/>
          <a:srcRect xmlns:a="http://schemas.openxmlformats.org/drawingml/2006/main" l="2000" t="20000" r="39000" b="4000"/>
          <a:stretch xmlns:a="http://schemas.openxmlformats.org/drawingml/2006/main"/>
        </p:blipFill>
        <p:spPr>
          <a:xfrm xmlns:a="http://schemas.openxmlformats.org/drawingml/2006/main">
            <a:off x="5086350" y="1524000"/>
            <a:ext cx="65341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E3BDA-8CB6-44EA-9F1D-5C5B386A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GARAGE PREMIUM MODERNO   /   HITO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B8E24-1BE8-4FAD-9B35-BECE2E12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907014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BD78E-A850-49B0-9C01-5B69DABA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Mi garage conserva la ficha de cada usuario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F17D9-8D89-4316-9B9A-AC5D52E1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26"/>
          </a:bodyPr>
          <a:lstStyle xmlns:a="http://schemas.openxmlformats.org/drawingml/2006/main">
            <a:lvl1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La cuenta se valida en Supabase.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2E120-852D-4657-A62B-BDF5234C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4333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Marca, modelo, año y kilometraje quedan asociados al usuario. Al volver a iniciar sesión, recupera su colección.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00912-A4A4-493F-8777-286A11E6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296AC"/>
                </a:solidFill>
                <a:latin typeface="Arial"/>
                <a:ea typeface="Arial"/>
                <a:cs typeface="Arial"/>
              </a:rPr>
              <a:t>Free: hasta 2 vehículos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DBA90-6D0E-4FB8-BE97-FC8D4D4C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8296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296AC"/>
                </a:solidFill>
                <a:latin typeface="Arial"/>
                <a:ea typeface="Arial"/>
                <a:cs typeface="Arial"/>
              </a:rPr>
              <a:t>Premium: sin límite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f423abff04da2"/>
          <a:srcRect xmlns:a="http://schemas.openxmlformats.org/drawingml/2006/main" l="0" t="14000" r="0" b="12000"/>
          <a:stretch xmlns:a="http://schemas.openxmlformats.org/drawingml/2006/main"/>
        </p:blipFill>
        <p:spPr>
          <a:xfrm xmlns:a="http://schemas.openxmlformats.org/drawingml/2006/main">
            <a:off x="5238750" y="1476375"/>
            <a:ext cx="638175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DED0D-8E31-46BA-A679-33FAB7C0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GARAGE PREMIUM MODERNO   /   HITO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CF011-DE14-45FD-A764-50FBEBD9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61346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22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7621-DA23-48F1-B50C-647A6B2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Orientación con IA para Premium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5F4B8-7E71-4D1B-A072-3855BBE2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4191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usuario aporta el vehículo y describe lo que observa.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7C079-0124-47C0-AF7F-77F27CBD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4191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7F2"/>
                </a:solidFill>
                <a:latin typeface="Arial"/>
                <a:ea typeface="Arial"/>
                <a:cs typeface="Arial"/>
              </a:rPr>
              <a:t>El servidor solicita a Gemini un reporte breve con estado, puntos críticos y mantenimiento.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7C729-9944-448D-980B-A88B69E6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AFC4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FC4D8"/>
                </a:solidFill>
                <a:latin typeface="Arial"/>
                <a:ea typeface="Arial"/>
                <a:cs typeface="Arial"/>
              </a:rPr>
              <a:t>La guía ayuda a conversar con un mecánico. No diagnostica fallas.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9dfc3dff24072"/>
          <a:srcRect xmlns:a="http://schemas.openxmlformats.org/drawingml/2006/main" l="49000" t="18000" r="2000" b="4000"/>
          <a:stretch xmlns:a="http://schemas.openxmlformats.org/drawingml/2006/main"/>
        </p:blipFill>
        <p:spPr>
          <a:xfrm xmlns:a="http://schemas.openxmlformats.org/drawingml/2006/main">
            <a:off x="5067300" y="1352550"/>
            <a:ext cx="6572250" cy="4486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193C4-8D41-4BA8-8002-8EAECEAC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D0E1"/>
                </a:solidFill>
                <a:latin typeface="Arial"/>
                <a:ea typeface="Arial"/>
                <a:cs typeface="Arial"/>
              </a:rPr>
              <a:t>GARAGE PREMIUM MODERNO   /   HITO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F8C7F-288A-43B5-9E15-B5452DC0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BFD0E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D0E1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20313039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59707-5FEC-40D7-A54B-0692A66D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Planes y conversación con el equipo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3078D-490E-45DE-A3BA-BE51757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Free y Premium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468ba260d4cb7"/>
          <a:srcRect xmlns:a="http://schemas.openxmlformats.org/drawingml/2006/main" l="3000" t="46000" r="3000" b="5000"/>
          <a:stretch xmlns:a="http://schemas.openxmlformats.org/drawingml/2006/main"/>
        </p:blipFill>
        <p:spPr>
          <a:xfrm xmlns:a="http://schemas.openxmlformats.org/drawingml/2006/main">
            <a:off x="571500" y="1933575"/>
            <a:ext cx="5143500" cy="2952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3252A-6A95-4A13-B3F4-04B22FDD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587"/>
                </a:solidFill>
                <a:latin typeface="Arial"/>
                <a:ea typeface="Arial"/>
                <a:cs typeface="Arial"/>
              </a:rPr>
              <a:t>Las suscripciones online aún no están habilitadas.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F9329-A23C-4A5D-BCBB-7D76F955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906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Hablemos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26b9cc2b44700"/>
          <a:srcRect xmlns:a="http://schemas.openxmlformats.org/drawingml/2006/main" l="22000" t="25000" r="0" b="4000"/>
          <a:stretch xmlns:a="http://schemas.openxmlformats.org/drawingml/2006/main"/>
        </p:blipFill>
        <p:spPr>
          <a:xfrm xmlns:a="http://schemas.openxmlformats.org/drawingml/2006/main">
            <a:off x="6305550" y="1933575"/>
            <a:ext cx="5143500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38DC3-EA26-463B-90F0-4D8E3734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054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587"/>
                </a:solidFill>
                <a:latin typeface="Arial"/>
                <a:ea typeface="Arial"/>
                <a:cs typeface="Arial"/>
              </a:rPr>
              <a:t>Las solicitudes quedan registradas en Supabase.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2766C-143A-48CE-BCF7-BDF90B9D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GARAGE PREMIUM MODERNO   /   HITO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8E86E-6F93-4DB2-9FA5-1961EB46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64430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0CEA8-EB50-44FC-99B9-5EDECB5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La arquitectura sostiene el recorrido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7DFD6-997A-4D7F-B939-D67FAD7F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43075"/>
            <a:ext cx="23812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430D3-2478-4582-8885-B6844F59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C8E7D-90D3-4499-8B4A-B3A4232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019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HTML · CSS · JavaScript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F54BB-E2CA-4C6F-9995-034B601D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43075"/>
            <a:ext cx="23812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E8209-EBFC-4C2B-8265-28EABA65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383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Servidor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88496-CFC0-4A35-ADA0-3C3D9A86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09850"/>
            <a:ext cx="2019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Node.js · Express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F6651-4370-4D20-8E96-34DF79AA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43075"/>
            <a:ext cx="23812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A8866-BECD-4BD1-BDBF-0F4D5984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Datos y acceso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18985-07C2-42F7-8224-EBA2F6EF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2019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Supabase · 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B53FE-20FA-42B6-A646-733A4EDB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43075"/>
            <a:ext cx="23812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6137A-CDA8-4D8E-802F-DC17B067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383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Guía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390EC-7ACC-444D-BF42-6CA4C6EA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09850"/>
            <a:ext cx="2019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Google Gemini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335B5-E4F7-43D1-A963-C2AD5928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303A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03A46"/>
                </a:solidFill>
                <a:latin typeface="Arial"/>
                <a:ea typeface="Arial"/>
                <a:cs typeface="Arial"/>
              </a:rPr>
              <a:t>Render publica la web. Las reglas de Supabase protegen los datos de cada cuenta.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70877-AE69-4730-AD63-C16126D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1029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E3B91-2C52-4202-ACCB-818E9F60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634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443"/>
                </a:solidFill>
                <a:latin typeface="Arial"/>
                <a:ea typeface="Arial"/>
                <a:cs typeface="Arial"/>
              </a:rPr>
              <a:t>garage-premium-moderno.onrender.com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34564-4E3D-4DE9-A1C8-7A4133A7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87"/>
                </a:solidFill>
                <a:latin typeface="Arial"/>
                <a:ea typeface="Arial"/>
                <a:cs typeface="Arial"/>
              </a:rPr>
              <a:t>Joel Trujillo  ·  Joaquín Guajardo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CE152-BDD1-4EF0-8944-1098A88F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GARAGE PREMIUM MODERNO   /   HITO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E3104-A739-4A68-9399-508E7275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575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587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181056376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365760"/>
            <a:ext cx="11155680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63444"/>
                </a:solidFill>
                <a:latin typeface="Aptos"/>
              </a:rPr>
              <a:t>Mapa del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886968"/>
            <a:ext cx="10972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08599"/>
                </a:solidFill>
                <a:latin typeface="Aptos"/>
              </a:rPr>
              <a:t>Del catálogo público a la guía de mantención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316736"/>
            <a:ext cx="109728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RECORRIDO DE LA PERSONA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" y="1609344"/>
            <a:ext cx="2542032" cy="150876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737360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01  PÚBLICO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57400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Inicio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59736"/>
            <a:ext cx="2249424" cy="5760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Valor del producto,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planes y acceso.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248" y="2359152"/>
            <a:ext cx="192024" cy="0"/>
          </a:xfrm>
          <a:prstGeom prst="line">
            <a:avLst/>
          </a:prstGeom>
          <a:ln w="25400">
            <a:solidFill>
              <a:srgbClr val="70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evron 9"/>
          <p:cNvSpPr/>
          <p:nvPr/>
        </p:nvSpPr>
        <p:spPr>
          <a:xfrm>
            <a:off x="3218688" y="2286000"/>
            <a:ext cx="118872" cy="146304"/>
          </a:xfrm>
          <a:prstGeom prst="chevron">
            <a:avLst/>
          </a:prstGeom>
          <a:solidFill>
            <a:srgbClr val="70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01568" y="1609344"/>
            <a:ext cx="2542032" cy="1508760"/>
          </a:xfrm>
          <a:prstGeom prst="roundRect">
            <a:avLst/>
          </a:prstGeom>
          <a:solidFill>
            <a:srgbClr val="DF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737360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02  PÚBLICO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057400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59736"/>
            <a:ext cx="2249424" cy="5760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Auto o moto; marca →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modelo → año → km.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2" y="2359152"/>
            <a:ext cx="192024" cy="0"/>
          </a:xfrm>
          <a:prstGeom prst="line">
            <a:avLst/>
          </a:prstGeom>
          <a:ln w="25400">
            <a:solidFill>
              <a:srgbClr val="70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6062472" y="2286000"/>
            <a:ext cx="118872" cy="146304"/>
          </a:xfrm>
          <a:prstGeom prst="chevron">
            <a:avLst/>
          </a:prstGeom>
          <a:solidFill>
            <a:srgbClr val="70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1609344"/>
            <a:ext cx="2542032" cy="150876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737360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03  IDENTIDAD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057400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Cuenta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459736"/>
            <a:ext cx="2249424" cy="5760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Registro o sesión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con Supabase Auth.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14816" y="2359152"/>
            <a:ext cx="192024" cy="0"/>
          </a:xfrm>
          <a:prstGeom prst="line">
            <a:avLst/>
          </a:prstGeom>
          <a:ln w="25400">
            <a:solidFill>
              <a:srgbClr val="70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8906256" y="2286000"/>
            <a:ext cx="118872" cy="146304"/>
          </a:xfrm>
          <a:prstGeom prst="chevron">
            <a:avLst/>
          </a:prstGeom>
          <a:solidFill>
            <a:srgbClr val="70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9136" y="1609344"/>
            <a:ext cx="2542032" cy="1508760"/>
          </a:xfrm>
          <a:prstGeom prst="roundRect">
            <a:avLst/>
          </a:prstGeom>
          <a:solidFill>
            <a:srgbClr val="DF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04  PRIVADO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057400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Mi garage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459736"/>
            <a:ext cx="2249424" cy="57607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Fichas asociadas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a cada usuario.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3383280"/>
            <a:ext cx="109728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CAPACIDADES Y CAMINOS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" y="3675887"/>
            <a:ext cx="2542032" cy="1335024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3803903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PLAN DE ENTRADA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4123944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526279"/>
            <a:ext cx="2249424" cy="40233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Hasta 2 vehículos.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Consulta tu garage.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3675887"/>
            <a:ext cx="2542032" cy="1335024"/>
          </a:xfrm>
          <a:prstGeom prst="roundRect">
            <a:avLst/>
          </a:prstGeom>
          <a:solidFill>
            <a:srgbClr val="DF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3803903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PLAN AMPLIADO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4123944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4526279"/>
            <a:ext cx="2249424" cy="40233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Garage sin límite.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Acceso a la guía IA.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3675887"/>
            <a:ext cx="2542032" cy="1335024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6" y="3803903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SOLO PREMIUM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4123944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Orientación 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4526279"/>
            <a:ext cx="2249424" cy="40233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Vehículo + observaciones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→ reporte con Gemini.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89136" y="3675887"/>
            <a:ext cx="2542032" cy="1335024"/>
          </a:xfrm>
          <a:prstGeom prst="roundRect">
            <a:avLst/>
          </a:prstGeom>
          <a:solidFill>
            <a:srgbClr val="DF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3803903"/>
            <a:ext cx="2267712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CANAL PÚBLICO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123944"/>
            <a:ext cx="224942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3444"/>
                </a:solidFill>
                <a:latin typeface="Aptos"/>
              </a:rPr>
              <a:t>Hablemos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526279"/>
            <a:ext cx="2249424" cy="40233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444"/>
                </a:solidFill>
                <a:latin typeface="Aptos"/>
              </a:rPr>
              <a:t>Consultas y sugerencias</a:t>
            </a:r>
            <a:br/>
            <a:r>
              <a:rPr sz="1200" b="0">
                <a:solidFill>
                  <a:srgbClr val="263444"/>
                </a:solidFill>
                <a:latin typeface="Aptos"/>
              </a:rPr>
              <a:t>registradas en Supabase.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61888" y="4343400"/>
            <a:ext cx="237744" cy="0"/>
          </a:xfrm>
          <a:prstGeom prst="line">
            <a:avLst/>
          </a:prstGeom>
          <a:ln w="25400">
            <a:solidFill>
              <a:srgbClr val="E9A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evron 44"/>
          <p:cNvSpPr/>
          <p:nvPr/>
        </p:nvSpPr>
        <p:spPr>
          <a:xfrm>
            <a:off x="6099048" y="4270248"/>
            <a:ext cx="118872" cy="146304"/>
          </a:xfrm>
          <a:prstGeom prst="chevron">
            <a:avLst/>
          </a:prstGeom>
          <a:solidFill>
            <a:srgbClr val="E9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120640"/>
            <a:ext cx="1097280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8599"/>
                </a:solidFill>
                <a:latin typeface="Aptos"/>
              </a:rPr>
              <a:t>CÓMO SE IMPLEMENTA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7784" y="5404104"/>
            <a:ext cx="11073384" cy="795528"/>
          </a:xfrm>
          <a:prstGeom prst="roundRect">
            <a:avLst/>
          </a:prstGeom>
          <a:solidFill>
            <a:srgbClr val="16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5504688"/>
            <a:ext cx="2578608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NAVEGADOR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" y="5751576"/>
            <a:ext cx="2578608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1EC"/>
                </a:solidFill>
                <a:latin typeface="Aptos"/>
              </a:rPr>
              <a:t>HTML · CSS · JavaScript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9272" y="5687568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A258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02152" y="5504688"/>
            <a:ext cx="2578608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SERVIDOR EN RENDER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02152" y="5751576"/>
            <a:ext cx="2578608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1EC"/>
                </a:solidFill>
                <a:latin typeface="Aptos"/>
              </a:rPr>
              <a:t>Node.js · Express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5687568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A258"/>
                </a:solidFill>
                <a:latin typeface="Aptos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504688"/>
            <a:ext cx="2578608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DATOS Y ACCESO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751576"/>
            <a:ext cx="2578608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1EC"/>
                </a:solidFill>
                <a:latin typeface="Aptos"/>
              </a:rPr>
              <a:t>Supabase · PostgreSQL · RLS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2248" y="5687568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A258"/>
                </a:solidFill>
                <a:latin typeface="Aptos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5128" y="5504688"/>
            <a:ext cx="2578608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GUÍA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25128" y="5751576"/>
            <a:ext cx="2578608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1EC"/>
                </a:solidFill>
                <a:latin typeface="Aptos"/>
              </a:rPr>
              <a:t>Gemini desde el servidor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" y="6428232"/>
            <a:ext cx="11073384" cy="22860"/>
          </a:xfrm>
          <a:prstGeom prst="rect">
            <a:avLst/>
          </a:prstGeom>
          <a:solidFill>
            <a:srgbClr val="E9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7784" y="6528816"/>
            <a:ext cx="5486400" cy="14630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08599"/>
                </a:solidFill>
                <a:latin typeface="Aptos"/>
              </a:rPr>
              <a:t>GARAGE PREMIUM MODERNO   /   HITO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528816"/>
            <a:ext cx="850392" cy="14630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08599"/>
                </a:solidFill>
                <a:latin typeface="Aptos"/>
              </a:rPr>
              <a:t>ANEXO / MAPA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2026-10-19T04:07:35.8470000Z</dcterms:created>
  <dcterms:modified xsi:type="dcterms:W3CDTF">2026-10-19T04:07:35.8470000Z</dcterms:modified>
</coreProperties>
</file>